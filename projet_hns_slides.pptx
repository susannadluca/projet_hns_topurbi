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58" d="100"/>
          <a:sy n="58" d="100"/>
        </p:scale>
        <p:origin x="1520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A5493D-AFFB-466E-BD96-43C988A6DB04}" type="datetimeFigureOut">
              <a:rPr lang="fr-FR" smtClean="0"/>
              <a:t>20/01/2026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0FE825-B93D-449A-9291-943895F6E35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3954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FE825-B93D-449A-9291-943895F6E350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944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Color Cover">
            <a:extLst>
              <a:ext uri="{FF2B5EF4-FFF2-40B4-BE49-F238E27FC236}">
                <a16:creationId xmlns:a16="http://schemas.microsoft.com/office/drawing/2014/main" id="{6BE11944-ED05-4FE9-9927-06C110BB3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2812508-238C-4BCD-BDD3-25C99C5CA2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7167"/>
            <a:ext cx="9141714" cy="3490956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EA98B5EE-6906-45B1-8691-D06F06B6C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Color">
              <a:extLst>
                <a:ext uri="{FF2B5EF4-FFF2-40B4-BE49-F238E27FC236}">
                  <a16:creationId xmlns:a16="http://schemas.microsoft.com/office/drawing/2014/main" id="{3CB4D77E-DA74-4797-88E4-C7D817D315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6439" y="451693"/>
            <a:ext cx="8494004" cy="262088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fr-FR" sz="3600" b="1" dirty="0">
                <a:solidFill>
                  <a:schemeClr val="bg1"/>
                </a:solidFill>
              </a:rPr>
              <a:t>Cartographie des lieux du dictionnaire </a:t>
            </a:r>
            <a:br>
              <a:rPr lang="fr-FR" sz="3600" b="1" dirty="0">
                <a:solidFill>
                  <a:schemeClr val="bg1"/>
                </a:solidFill>
              </a:rPr>
            </a:br>
            <a:r>
              <a:rPr lang="fr-FR" sz="3600" b="1" dirty="0">
                <a:solidFill>
                  <a:schemeClr val="bg1"/>
                </a:solidFill>
              </a:rPr>
              <a:t>TopUrbi (</a:t>
            </a:r>
            <a:r>
              <a:rPr lang="fr-FR" sz="3600" b="1" dirty="0" err="1">
                <a:solidFill>
                  <a:schemeClr val="bg1"/>
                </a:solidFill>
              </a:rPr>
              <a:t>Alcedo</a:t>
            </a:r>
            <a:r>
              <a:rPr lang="fr-FR" sz="3600" b="1" dirty="0">
                <a:solidFill>
                  <a:schemeClr val="bg1"/>
                </a:solidFill>
              </a:rPr>
              <a:t>)</a:t>
            </a:r>
            <a:br>
              <a:rPr lang="fr-FR" sz="3600" b="1" dirty="0">
                <a:solidFill>
                  <a:schemeClr val="bg1"/>
                </a:solidFill>
              </a:rPr>
            </a:br>
            <a:r>
              <a:rPr lang="fr-FR" sz="3600" dirty="0">
                <a:solidFill>
                  <a:schemeClr val="bg1"/>
                </a:solidFill>
              </a:rPr>
              <a:t> </a:t>
            </a:r>
            <a:r>
              <a:rPr lang="fr-FR" sz="3600" i="1" dirty="0">
                <a:solidFill>
                  <a:schemeClr val="bg1"/>
                </a:solidFill>
              </a:rPr>
              <a:t>Humanités Numériques Spatialisées</a:t>
            </a:r>
            <a:br>
              <a:rPr lang="fr-FR" sz="3600" i="1" dirty="0">
                <a:solidFill>
                  <a:schemeClr val="bg1"/>
                </a:solidFill>
              </a:rPr>
            </a:br>
            <a:r>
              <a:rPr lang="fr-FR" sz="3600" dirty="0">
                <a:solidFill>
                  <a:schemeClr val="bg1"/>
                </a:solidFill>
              </a:rPr>
              <a:t> Master 2 HN</a:t>
            </a:r>
            <a:br>
              <a:rPr lang="fr-FR" sz="3600" dirty="0">
                <a:solidFill>
                  <a:schemeClr val="bg1"/>
                </a:solidFill>
              </a:rPr>
            </a:br>
            <a:r>
              <a:rPr lang="fr-FR" sz="3600" dirty="0">
                <a:solidFill>
                  <a:schemeClr val="bg1"/>
                </a:solidFill>
              </a:rPr>
              <a:t>Susanna De Luca – Janvier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2281" y="3640633"/>
            <a:ext cx="7868673" cy="2487212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fr-FR" b="1" dirty="0">
                <a:solidFill>
                  <a:schemeClr val="tx2"/>
                </a:solidFill>
              </a:rPr>
              <a:t>Objectif général du projet :</a:t>
            </a:r>
            <a:br>
              <a:rPr lang="fr-FR" dirty="0">
                <a:solidFill>
                  <a:schemeClr val="tx2"/>
                </a:solidFill>
              </a:rPr>
            </a:br>
            <a:r>
              <a:rPr lang="fr-FR" dirty="0">
                <a:solidFill>
                  <a:schemeClr val="tx2"/>
                </a:solidFill>
              </a:rPr>
              <a:t>Analyser comment les lieux mentionnés dans le dictionnaire d’</a:t>
            </a:r>
            <a:r>
              <a:rPr lang="fr-FR" dirty="0" err="1">
                <a:solidFill>
                  <a:schemeClr val="tx2"/>
                </a:solidFill>
              </a:rPr>
              <a:t>Alcedo</a:t>
            </a:r>
            <a:r>
              <a:rPr lang="fr-FR" dirty="0">
                <a:solidFill>
                  <a:schemeClr val="tx2"/>
                </a:solidFill>
              </a:rPr>
              <a:t> sont distribués, localisés et catégorisés dans l’espace géographique des Amériques.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548176" cy="6858000"/>
            <a:chOff x="651279" y="598259"/>
            <a:chExt cx="10889442" cy="5680742"/>
          </a:xfrm>
        </p:grpSpPr>
        <p:sp>
          <p:nvSpPr>
            <p:cNvPr id="28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9788" y="841248"/>
            <a:ext cx="3847200" cy="534009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9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Problématique</a:t>
            </a:r>
            <a:r>
              <a:rPr lang="en-US" sz="29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9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principale</a:t>
            </a:r>
            <a:r>
              <a:rPr lang="en-US" sz="29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:</a:t>
            </a:r>
            <a:br>
              <a:rPr lang="en-US" sz="29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29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Dans quelle </a:t>
            </a:r>
            <a:r>
              <a:rPr lang="en-US" sz="29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mesure</a:t>
            </a:r>
            <a:r>
              <a:rPr lang="en-US" sz="29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la </a:t>
            </a:r>
            <a:r>
              <a:rPr lang="en-US" sz="29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qualité</a:t>
            </a:r>
            <a:r>
              <a:rPr lang="en-US" sz="29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, la </a:t>
            </a:r>
            <a:r>
              <a:rPr lang="en-US" sz="29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précision</a:t>
            </a:r>
            <a:r>
              <a:rPr lang="en-US" sz="29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et la distribution </a:t>
            </a:r>
            <a:r>
              <a:rPr lang="en-US" sz="29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géographique</a:t>
            </a:r>
            <a:r>
              <a:rPr lang="en-US" sz="29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des </a:t>
            </a:r>
            <a:r>
              <a:rPr lang="en-US" sz="29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lieux</a:t>
            </a:r>
            <a:r>
              <a:rPr lang="en-US" sz="29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9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présents</a:t>
            </a:r>
            <a:r>
              <a:rPr lang="en-US" sz="29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dans </a:t>
            </a:r>
            <a:r>
              <a:rPr lang="en-US" sz="29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l’index</a:t>
            </a:r>
            <a:r>
              <a:rPr lang="en-US" sz="29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TopUrbi </a:t>
            </a:r>
            <a:r>
              <a:rPr lang="en-US" sz="29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reflètent-elles</a:t>
            </a:r>
            <a:r>
              <a:rPr lang="en-US" sz="29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les </a:t>
            </a:r>
            <a:r>
              <a:rPr lang="en-US" sz="29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logiques</a:t>
            </a:r>
            <a:r>
              <a:rPr lang="en-US" sz="29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9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historiques</a:t>
            </a:r>
            <a:r>
              <a:rPr lang="en-US" sz="29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, </a:t>
            </a:r>
            <a:r>
              <a:rPr lang="en-US" sz="29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éditoriales</a:t>
            </a:r>
            <a:r>
              <a:rPr lang="en-US" sz="29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et </a:t>
            </a:r>
            <a:r>
              <a:rPr lang="en-US" sz="29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documentaires</a:t>
            </a:r>
            <a:r>
              <a:rPr lang="en-US" sz="29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du XVIIIᵉ siècle 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48307" y="841247"/>
            <a:ext cx="3363402" cy="534009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000" b="1" dirty="0">
                <a:solidFill>
                  <a:schemeClr val="tx2"/>
                </a:solidFill>
              </a:rPr>
              <a:t>Questions </a:t>
            </a:r>
            <a:r>
              <a:rPr lang="en-US" sz="2000" b="1" dirty="0" err="1">
                <a:solidFill>
                  <a:schemeClr val="tx2"/>
                </a:solidFill>
              </a:rPr>
              <a:t>associées</a:t>
            </a:r>
            <a:r>
              <a:rPr lang="en-US" sz="2000" b="1" dirty="0">
                <a:solidFill>
                  <a:schemeClr val="tx2"/>
                </a:solidFill>
              </a:rPr>
              <a:t>:</a:t>
            </a:r>
            <a:endParaRPr lang="en-US" sz="2000" dirty="0">
              <a:solidFill>
                <a:schemeClr val="tx2"/>
              </a:solidFill>
            </a:endParaRPr>
          </a:p>
          <a:p>
            <a:pPr algn="l" defTabSz="914400">
              <a:lnSpc>
                <a:spcPct val="90000"/>
              </a:lnSpc>
            </a:pPr>
            <a:r>
              <a:rPr lang="en-US" sz="2000" dirty="0">
                <a:solidFill>
                  <a:schemeClr val="tx2"/>
                </a:solidFill>
              </a:rPr>
              <a:t>• </a:t>
            </a:r>
            <a:r>
              <a:rPr lang="en-US" sz="2000" dirty="0" err="1">
                <a:solidFill>
                  <a:schemeClr val="tx2"/>
                </a:solidFill>
              </a:rPr>
              <a:t>Où</a:t>
            </a:r>
            <a:r>
              <a:rPr lang="en-US" sz="2000" dirty="0">
                <a:solidFill>
                  <a:schemeClr val="tx2"/>
                </a:solidFill>
              </a:rPr>
              <a:t> se </a:t>
            </a:r>
            <a:r>
              <a:rPr lang="en-US" sz="2000" dirty="0" err="1">
                <a:solidFill>
                  <a:schemeClr val="tx2"/>
                </a:solidFill>
              </a:rPr>
              <a:t>concentrent</a:t>
            </a:r>
            <a:r>
              <a:rPr lang="en-US" sz="2000" dirty="0">
                <a:solidFill>
                  <a:schemeClr val="tx2"/>
                </a:solidFill>
              </a:rPr>
              <a:t> les </a:t>
            </a:r>
            <a:r>
              <a:rPr lang="en-US" sz="2000" dirty="0" err="1">
                <a:solidFill>
                  <a:schemeClr val="tx2"/>
                </a:solidFill>
              </a:rPr>
              <a:t>lieux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mentionnés</a:t>
            </a:r>
            <a:r>
              <a:rPr lang="en-US" sz="2000" dirty="0">
                <a:solidFill>
                  <a:schemeClr val="tx2"/>
                </a:solidFill>
              </a:rPr>
              <a:t> dans le </a:t>
            </a:r>
            <a:r>
              <a:rPr lang="en-US" sz="2000" dirty="0" err="1">
                <a:solidFill>
                  <a:schemeClr val="tx2"/>
                </a:solidFill>
              </a:rPr>
              <a:t>dictionnaire</a:t>
            </a:r>
            <a:r>
              <a:rPr lang="en-US" sz="2000" dirty="0">
                <a:solidFill>
                  <a:schemeClr val="tx2"/>
                </a:solidFill>
              </a:rPr>
              <a:t> ?</a:t>
            </a:r>
          </a:p>
          <a:p>
            <a:pPr algn="l" defTabSz="914400">
              <a:lnSpc>
                <a:spcPct val="90000"/>
              </a:lnSpc>
            </a:pPr>
            <a:br>
              <a:rPr lang="en-US" sz="2000" dirty="0">
                <a:solidFill>
                  <a:schemeClr val="tx2"/>
                </a:solidFill>
              </a:rPr>
            </a:br>
            <a:r>
              <a:rPr lang="en-US" sz="2000" dirty="0">
                <a:solidFill>
                  <a:schemeClr val="tx2"/>
                </a:solidFill>
              </a:rPr>
              <a:t>• </a:t>
            </a:r>
            <a:r>
              <a:rPr lang="en-US" sz="2000" dirty="0" err="1">
                <a:solidFill>
                  <a:schemeClr val="tx2"/>
                </a:solidFill>
              </a:rPr>
              <a:t>Pourquoi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certaines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régions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sont-elles</a:t>
            </a:r>
            <a:r>
              <a:rPr lang="en-US" sz="2000" dirty="0">
                <a:solidFill>
                  <a:schemeClr val="tx2"/>
                </a:solidFill>
              </a:rPr>
              <a:t> riches en données, </a:t>
            </a:r>
            <a:r>
              <a:rPr lang="en-US" sz="2000" dirty="0" err="1">
                <a:solidFill>
                  <a:schemeClr val="tx2"/>
                </a:solidFill>
              </a:rPr>
              <a:t>tandis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que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d’autres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apparaissent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presque</a:t>
            </a:r>
            <a:r>
              <a:rPr lang="en-US" sz="2000" dirty="0">
                <a:solidFill>
                  <a:schemeClr val="tx2"/>
                </a:solidFill>
              </a:rPr>
              <a:t> vides ?</a:t>
            </a:r>
          </a:p>
          <a:p>
            <a:pPr algn="l" defTabSz="914400">
              <a:lnSpc>
                <a:spcPct val="90000"/>
              </a:lnSpc>
            </a:pPr>
            <a:br>
              <a:rPr lang="en-US" sz="2000" dirty="0">
                <a:solidFill>
                  <a:schemeClr val="tx2"/>
                </a:solidFill>
              </a:rPr>
            </a:br>
            <a:r>
              <a:rPr lang="en-US" sz="2000" dirty="0">
                <a:solidFill>
                  <a:schemeClr val="tx2"/>
                </a:solidFill>
              </a:rPr>
              <a:t>• Comment les </a:t>
            </a:r>
            <a:r>
              <a:rPr lang="en-US" sz="2000" dirty="0" err="1">
                <a:solidFill>
                  <a:schemeClr val="tx2"/>
                </a:solidFill>
              </a:rPr>
              <a:t>incertitudes</a:t>
            </a:r>
            <a:r>
              <a:rPr lang="en-US" sz="2000" dirty="0">
                <a:solidFill>
                  <a:schemeClr val="tx2"/>
                </a:solidFill>
              </a:rPr>
              <a:t> de </a:t>
            </a:r>
            <a:r>
              <a:rPr lang="en-US" sz="2000" dirty="0" err="1">
                <a:solidFill>
                  <a:schemeClr val="tx2"/>
                </a:solidFill>
              </a:rPr>
              <a:t>localisation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influencent-elles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l’interprétation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cartographique</a:t>
            </a:r>
            <a:r>
              <a:rPr lang="en-US" sz="2000" dirty="0">
                <a:solidFill>
                  <a:schemeClr val="tx2"/>
                </a:solidFill>
              </a:rPr>
              <a:t> ?</a:t>
            </a:r>
          </a:p>
          <a:p>
            <a:pPr algn="l" defTabSz="914400">
              <a:lnSpc>
                <a:spcPct val="90000"/>
              </a:lnSpc>
            </a:pPr>
            <a:br>
              <a:rPr lang="en-US" sz="2000" dirty="0">
                <a:solidFill>
                  <a:schemeClr val="tx2"/>
                </a:solidFill>
              </a:rPr>
            </a:br>
            <a:r>
              <a:rPr lang="en-US" sz="2000" dirty="0">
                <a:solidFill>
                  <a:schemeClr val="tx2"/>
                </a:solidFill>
              </a:rPr>
              <a:t>• </a:t>
            </a:r>
            <a:r>
              <a:rPr lang="en-US" sz="2000" dirty="0" err="1">
                <a:solidFill>
                  <a:schemeClr val="tx2"/>
                </a:solidFill>
              </a:rPr>
              <a:t>Quelles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régions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semblent</a:t>
            </a:r>
            <a:r>
              <a:rPr lang="en-US" sz="2000" dirty="0">
                <a:solidFill>
                  <a:schemeClr val="tx2"/>
                </a:solidFill>
              </a:rPr>
              <a:t> les </a:t>
            </a:r>
            <a:r>
              <a:rPr lang="en-US" sz="2000" dirty="0" err="1">
                <a:solidFill>
                  <a:schemeClr val="tx2"/>
                </a:solidFill>
              </a:rPr>
              <a:t>mieux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documentées</a:t>
            </a:r>
            <a:r>
              <a:rPr lang="en-US" sz="2000" dirty="0">
                <a:solidFill>
                  <a:schemeClr val="tx2"/>
                </a:solidFill>
              </a:rPr>
              <a:t> ?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7264A61-6AE3-4DC0-A455-5EDC604E3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36" y="0"/>
            <a:ext cx="9141711" cy="6858000"/>
            <a:chOff x="-2848" y="0"/>
            <a:chExt cx="12188949" cy="6858000"/>
          </a:xfrm>
        </p:grpSpPr>
        <p:sp>
          <p:nvSpPr>
            <p:cNvPr id="14" name="Color Cover">
              <a:extLst>
                <a:ext uri="{FF2B5EF4-FFF2-40B4-BE49-F238E27FC236}">
                  <a16:creationId xmlns:a16="http://schemas.microsoft.com/office/drawing/2014/main" id="{2F23900D-D5D0-4EE8-80F4-D25038DE24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5">
                <a:alpha val="4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Color Cover">
              <a:extLst>
                <a:ext uri="{FF2B5EF4-FFF2-40B4-BE49-F238E27FC236}">
                  <a16:creationId xmlns:a16="http://schemas.microsoft.com/office/drawing/2014/main" id="{C55310DE-258B-4134-9DA8-DC4C2D0EBE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6">
                <a:alpha val="1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691EE10-D5F3-48FA-BE55-F24A0BE59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8459" y="598259"/>
            <a:ext cx="8167081" cy="5680742"/>
            <a:chOff x="651279" y="598259"/>
            <a:chExt cx="10889442" cy="5680742"/>
          </a:xfrm>
        </p:grpSpPr>
        <p:sp>
          <p:nvSpPr>
            <p:cNvPr id="18" name="Color">
              <a:extLst>
                <a:ext uri="{FF2B5EF4-FFF2-40B4-BE49-F238E27FC236}">
                  <a16:creationId xmlns:a16="http://schemas.microsoft.com/office/drawing/2014/main" id="{7EF3BBC7-022F-4CD5-BE8E-BD8206C4BB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Color">
              <a:extLst>
                <a:ext uri="{FF2B5EF4-FFF2-40B4-BE49-F238E27FC236}">
                  <a16:creationId xmlns:a16="http://schemas.microsoft.com/office/drawing/2014/main" id="{A877CB3E-FE2B-43A7-A987-F921A92494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6" name="Rectangle 3">
            <a:extLst>
              <a:ext uri="{FF2B5EF4-FFF2-40B4-BE49-F238E27FC236}">
                <a16:creationId xmlns:a16="http://schemas.microsoft.com/office/drawing/2014/main" id="{F88B83D0-FDDD-B9D0-3DE2-33D4EE4916F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759483" y="841664"/>
            <a:ext cx="3866304" cy="51568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Enjeux scientifiques:</a:t>
            </a:r>
            <a:endParaRPr kumimoji="0" lang="fr-FR" altLang="fr-FR" sz="3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04418" y="841664"/>
            <a:ext cx="4333654" cy="5156800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fr-FR" altLang="fr-FR" sz="2000" dirty="0">
                <a:solidFill>
                  <a:schemeClr val="bg1"/>
                </a:solidFill>
                <a:latin typeface="Arial" panose="020B0604020202020204" pitchFamily="34" charset="0"/>
              </a:rPr>
              <a:t>• Reconstituer une géographie du savoir colonial à partir du dictionnaire d’</a:t>
            </a:r>
            <a:r>
              <a:rPr lang="fr-FR" altLang="fr-FR" sz="2000" dirty="0" err="1">
                <a:solidFill>
                  <a:schemeClr val="bg1"/>
                </a:solidFill>
                <a:latin typeface="Arial" panose="020B0604020202020204" pitchFamily="34" charset="0"/>
              </a:rPr>
              <a:t>Alcedo</a:t>
            </a:r>
            <a:r>
              <a:rPr lang="fr-FR" altLang="fr-FR" sz="2000" dirty="0">
                <a:solidFill>
                  <a:schemeClr val="bg1"/>
                </a:solidFill>
                <a:latin typeface="Arial" panose="020B0604020202020204" pitchFamily="34" charset="0"/>
              </a:rPr>
              <a:t>.</a:t>
            </a:r>
          </a:p>
          <a:p>
            <a:pPr algn="l">
              <a:lnSpc>
                <a:spcPct val="90000"/>
              </a:lnSpc>
            </a:pPr>
            <a:br>
              <a:rPr lang="fr-FR" altLang="fr-FR" sz="2000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fr-FR" altLang="fr-FR" sz="2000" dirty="0">
                <a:solidFill>
                  <a:schemeClr val="bg1"/>
                </a:solidFill>
                <a:latin typeface="Arial" panose="020B0604020202020204" pitchFamily="34" charset="0"/>
              </a:rPr>
              <a:t>• Identifier les biais documentaires et les lacunes géographiques du corpus.</a:t>
            </a:r>
          </a:p>
          <a:p>
            <a:pPr algn="l">
              <a:lnSpc>
                <a:spcPct val="90000"/>
              </a:lnSpc>
            </a:pPr>
            <a:br>
              <a:rPr lang="fr-FR" altLang="fr-FR" sz="2000" dirty="0">
                <a:solidFill>
                  <a:schemeClr val="bg1"/>
                </a:solidFill>
                <a:latin typeface="Arial" panose="020B0604020202020204" pitchFamily="34" charset="0"/>
              </a:rPr>
            </a:br>
            <a:r>
              <a:rPr lang="fr-FR" altLang="fr-FR" sz="2000" dirty="0">
                <a:solidFill>
                  <a:schemeClr val="bg1"/>
                </a:solidFill>
                <a:latin typeface="Arial" panose="020B0604020202020204" pitchFamily="34" charset="0"/>
              </a:rPr>
              <a:t>• Distinguer les lieux attestés des lieux supposés ou approximatifs.</a:t>
            </a:r>
            <a:endParaRPr lang="fr-FR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6BE11944-ED05-4FE9-9927-06C110BB3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2812508-238C-4BCD-BDD3-25C99C5CA2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7167"/>
            <a:ext cx="9141714" cy="3490956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EA98B5EE-6906-45B1-8691-D06F06B6C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3CB4D77E-DA74-4797-88E4-C7D817D315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2281" y="1014574"/>
            <a:ext cx="7791555" cy="1778751"/>
          </a:xfrm>
        </p:spPr>
        <p:txBody>
          <a:bodyPr anchor="ctr">
            <a:normAutofit/>
          </a:bodyPr>
          <a:lstStyle/>
          <a:p>
            <a:pPr algn="l"/>
            <a:r>
              <a:rPr lang="fr-FR" sz="3200" b="1" dirty="0">
                <a:solidFill>
                  <a:schemeClr val="bg1"/>
                </a:solidFill>
              </a:rPr>
              <a:t>Méthodes: </a:t>
            </a:r>
            <a:br>
              <a:rPr lang="fr-FR" sz="3200" b="1" dirty="0">
                <a:solidFill>
                  <a:schemeClr val="bg1"/>
                </a:solidFill>
              </a:rPr>
            </a:br>
            <a:r>
              <a:rPr lang="fr-FR" sz="3200" b="1" dirty="0">
                <a:solidFill>
                  <a:schemeClr val="bg1"/>
                </a:solidFill>
              </a:rPr>
              <a:t>Extraction et structuration des données</a:t>
            </a:r>
            <a:br>
              <a:rPr lang="fr-FR" sz="3200" b="1" dirty="0">
                <a:solidFill>
                  <a:schemeClr val="bg1"/>
                </a:solidFill>
              </a:rPr>
            </a:br>
            <a:r>
              <a:rPr lang="fr-FR" sz="3200" b="1" dirty="0">
                <a:solidFill>
                  <a:schemeClr val="bg1"/>
                </a:solidFill>
              </a:rPr>
              <a:t>Source utilisée: </a:t>
            </a:r>
            <a:r>
              <a:rPr lang="fr-FR" sz="3200" b="1" i="1" dirty="0">
                <a:solidFill>
                  <a:schemeClr val="bg1"/>
                </a:solidFill>
              </a:rPr>
              <a:t>TopUrbiIndex.xml</a:t>
            </a:r>
            <a:endParaRPr lang="fr-FR" sz="3200" b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2281" y="3640632"/>
            <a:ext cx="8276297" cy="3035589"/>
          </a:xfrm>
        </p:spPr>
        <p:txBody>
          <a:bodyPr anchor="ctr">
            <a:noAutofit/>
          </a:bodyPr>
          <a:lstStyle/>
          <a:p>
            <a:pPr algn="l">
              <a:lnSpc>
                <a:spcPct val="90000"/>
              </a:lnSpc>
            </a:pPr>
            <a:r>
              <a:rPr lang="fr-FR" sz="2000" b="1" dirty="0">
                <a:solidFill>
                  <a:schemeClr val="tx2"/>
                </a:solidFill>
              </a:rPr>
              <a:t>Opérations principales :</a:t>
            </a:r>
            <a:br>
              <a:rPr lang="fr-FR" sz="2000" dirty="0">
                <a:solidFill>
                  <a:schemeClr val="tx2"/>
                </a:solidFill>
              </a:rPr>
            </a:br>
            <a:r>
              <a:rPr lang="fr-FR" sz="2000" dirty="0">
                <a:solidFill>
                  <a:schemeClr val="tx2"/>
                </a:solidFill>
              </a:rPr>
              <a:t>• </a:t>
            </a:r>
            <a:r>
              <a:rPr lang="fr-FR" sz="2000" dirty="0" err="1">
                <a:solidFill>
                  <a:schemeClr val="tx2"/>
                </a:solidFill>
              </a:rPr>
              <a:t>Parsing</a:t>
            </a:r>
            <a:r>
              <a:rPr lang="fr-FR" sz="2000" dirty="0">
                <a:solidFill>
                  <a:schemeClr val="tx2"/>
                </a:solidFill>
              </a:rPr>
              <a:t> du fichier XML à l’aide de la bibliothèque </a:t>
            </a:r>
            <a:r>
              <a:rPr lang="fr-FR" sz="2000" b="1" dirty="0" err="1">
                <a:solidFill>
                  <a:schemeClr val="tx2"/>
                </a:solidFill>
              </a:rPr>
              <a:t>lxml</a:t>
            </a:r>
            <a:br>
              <a:rPr lang="fr-FR" sz="2000" dirty="0">
                <a:solidFill>
                  <a:schemeClr val="tx2"/>
                </a:solidFill>
              </a:rPr>
            </a:br>
            <a:r>
              <a:rPr lang="fr-FR" sz="2000" dirty="0">
                <a:solidFill>
                  <a:schemeClr val="tx2"/>
                </a:solidFill>
              </a:rPr>
              <a:t>• Extraction des champs structurés :</a:t>
            </a:r>
            <a:br>
              <a:rPr lang="fr-FR" sz="2000" dirty="0">
                <a:solidFill>
                  <a:schemeClr val="tx2"/>
                </a:solidFill>
              </a:rPr>
            </a:br>
            <a:r>
              <a:rPr lang="fr-FR" sz="2000" dirty="0">
                <a:solidFill>
                  <a:schemeClr val="tx2"/>
                </a:solidFill>
              </a:rPr>
              <a:t>– </a:t>
            </a:r>
            <a:r>
              <a:rPr lang="fr-FR" sz="2000" i="1" dirty="0" err="1">
                <a:solidFill>
                  <a:schemeClr val="tx2"/>
                </a:solidFill>
              </a:rPr>
              <a:t>place_name</a:t>
            </a:r>
            <a:br>
              <a:rPr lang="fr-FR" sz="2000" dirty="0">
                <a:solidFill>
                  <a:schemeClr val="tx2"/>
                </a:solidFill>
              </a:rPr>
            </a:br>
            <a:r>
              <a:rPr lang="fr-FR" sz="2000" dirty="0">
                <a:solidFill>
                  <a:schemeClr val="tx2"/>
                </a:solidFill>
              </a:rPr>
              <a:t>– </a:t>
            </a:r>
            <a:r>
              <a:rPr lang="fr-FR" sz="2000" i="1" dirty="0">
                <a:solidFill>
                  <a:schemeClr val="tx2"/>
                </a:solidFill>
              </a:rPr>
              <a:t>feature_type</a:t>
            </a:r>
            <a:br>
              <a:rPr lang="fr-FR" sz="2000" dirty="0">
                <a:solidFill>
                  <a:schemeClr val="tx2"/>
                </a:solidFill>
              </a:rPr>
            </a:br>
            <a:r>
              <a:rPr lang="fr-FR" sz="2000" dirty="0">
                <a:solidFill>
                  <a:schemeClr val="tx2"/>
                </a:solidFill>
              </a:rPr>
              <a:t>– </a:t>
            </a:r>
            <a:r>
              <a:rPr lang="fr-FR" sz="2000" i="1" dirty="0">
                <a:solidFill>
                  <a:schemeClr val="tx2"/>
                </a:solidFill>
              </a:rPr>
              <a:t>district</a:t>
            </a:r>
            <a:br>
              <a:rPr lang="fr-FR" sz="2000" dirty="0">
                <a:solidFill>
                  <a:schemeClr val="tx2"/>
                </a:solidFill>
              </a:rPr>
            </a:br>
            <a:r>
              <a:rPr lang="fr-FR" sz="2000" dirty="0">
                <a:solidFill>
                  <a:schemeClr val="tx2"/>
                </a:solidFill>
              </a:rPr>
              <a:t>– </a:t>
            </a:r>
            <a:r>
              <a:rPr lang="fr-FR" sz="2000" i="1" dirty="0" err="1">
                <a:solidFill>
                  <a:schemeClr val="tx2"/>
                </a:solidFill>
              </a:rPr>
              <a:t>region</a:t>
            </a:r>
            <a:br>
              <a:rPr lang="fr-FR" sz="2000" dirty="0">
                <a:solidFill>
                  <a:schemeClr val="tx2"/>
                </a:solidFill>
              </a:rPr>
            </a:br>
            <a:r>
              <a:rPr lang="fr-FR" sz="2000" dirty="0">
                <a:solidFill>
                  <a:schemeClr val="tx2"/>
                </a:solidFill>
              </a:rPr>
              <a:t>– </a:t>
            </a:r>
            <a:r>
              <a:rPr lang="fr-FR" sz="2000" i="1" dirty="0" err="1">
                <a:solidFill>
                  <a:schemeClr val="tx2"/>
                </a:solidFill>
              </a:rPr>
              <a:t>location_representation</a:t>
            </a:r>
            <a:br>
              <a:rPr lang="fr-FR" sz="2000" dirty="0">
                <a:solidFill>
                  <a:schemeClr val="tx2"/>
                </a:solidFill>
              </a:rPr>
            </a:br>
            <a:r>
              <a:rPr lang="fr-FR" sz="2000" dirty="0">
                <a:solidFill>
                  <a:schemeClr val="tx2"/>
                </a:solidFill>
              </a:rPr>
              <a:t>– coordonnées géographiques (</a:t>
            </a:r>
            <a:r>
              <a:rPr lang="fr-FR" sz="2000" dirty="0" err="1">
                <a:solidFill>
                  <a:schemeClr val="tx2"/>
                </a:solidFill>
              </a:rPr>
              <a:t>lat</a:t>
            </a:r>
            <a:r>
              <a:rPr lang="fr-FR" sz="2000" dirty="0">
                <a:solidFill>
                  <a:schemeClr val="tx2"/>
                </a:solidFill>
              </a:rPr>
              <a:t>/</a:t>
            </a:r>
            <a:r>
              <a:rPr lang="fr-FR" sz="2000" dirty="0" err="1">
                <a:solidFill>
                  <a:schemeClr val="tx2"/>
                </a:solidFill>
              </a:rPr>
              <a:t>lon</a:t>
            </a:r>
            <a:r>
              <a:rPr lang="fr-FR" sz="2000" dirty="0">
                <a:solidFill>
                  <a:schemeClr val="tx2"/>
                </a:solidFill>
              </a:rPr>
              <a:t>)</a:t>
            </a:r>
            <a:br>
              <a:rPr lang="fr-FR" sz="2000" dirty="0">
                <a:solidFill>
                  <a:schemeClr val="tx2"/>
                </a:solidFill>
              </a:rPr>
            </a:br>
            <a:r>
              <a:rPr lang="fr-FR" sz="2000" dirty="0">
                <a:solidFill>
                  <a:schemeClr val="tx2"/>
                </a:solidFill>
              </a:rPr>
              <a:t>• Nettoyage et normalisation → </a:t>
            </a:r>
            <a:r>
              <a:rPr lang="fr-FR" sz="2000" b="1" dirty="0" err="1">
                <a:solidFill>
                  <a:schemeClr val="tx2"/>
                </a:solidFill>
              </a:rPr>
              <a:t>DataFrame</a:t>
            </a:r>
            <a:r>
              <a:rPr lang="fr-FR" sz="2000" b="1" dirty="0">
                <a:solidFill>
                  <a:schemeClr val="tx2"/>
                </a:solidFill>
              </a:rPr>
              <a:t> pandas</a:t>
            </a:r>
            <a:br>
              <a:rPr lang="fr-FR" sz="2000" dirty="0">
                <a:solidFill>
                  <a:schemeClr val="tx2"/>
                </a:solidFill>
              </a:rPr>
            </a:br>
            <a:r>
              <a:rPr lang="fr-FR" sz="2000" dirty="0">
                <a:solidFill>
                  <a:schemeClr val="tx2"/>
                </a:solidFill>
              </a:rPr>
              <a:t>• Conversion en données spatiales → </a:t>
            </a:r>
            <a:r>
              <a:rPr lang="fr-FR" sz="2000" b="1" dirty="0" err="1">
                <a:solidFill>
                  <a:schemeClr val="tx2"/>
                </a:solidFill>
              </a:rPr>
              <a:t>GeoDataFrame</a:t>
            </a:r>
            <a:r>
              <a:rPr lang="fr-FR" sz="2000" b="1" dirty="0">
                <a:solidFill>
                  <a:schemeClr val="tx2"/>
                </a:solidFill>
              </a:rPr>
              <a:t> (</a:t>
            </a:r>
            <a:r>
              <a:rPr lang="fr-FR" sz="2000" b="1" dirty="0" err="1">
                <a:solidFill>
                  <a:schemeClr val="tx2"/>
                </a:solidFill>
              </a:rPr>
              <a:t>GeoPandas</a:t>
            </a:r>
            <a:r>
              <a:rPr lang="fr-FR" sz="2000" b="1" dirty="0">
                <a:solidFill>
                  <a:schemeClr val="tx2"/>
                </a:solidFill>
              </a:rPr>
              <a:t>)</a:t>
            </a:r>
            <a:endParaRPr lang="fr-FR" sz="20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548176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9788" y="841248"/>
            <a:ext cx="3847200" cy="534009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2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Logique</a:t>
            </a:r>
            <a:r>
              <a: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de classification: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86715" y="947029"/>
            <a:ext cx="3970215" cy="50686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000" b="1" dirty="0">
                <a:solidFill>
                  <a:schemeClr val="tx2"/>
                </a:solidFill>
              </a:rPr>
              <a:t>Variable </a:t>
            </a:r>
            <a:r>
              <a:rPr lang="en-US" sz="2000" b="1" dirty="0" err="1">
                <a:solidFill>
                  <a:schemeClr val="tx2"/>
                </a:solidFill>
              </a:rPr>
              <a:t>créée</a:t>
            </a:r>
            <a:r>
              <a:rPr lang="en-US" sz="2000" b="1" dirty="0">
                <a:solidFill>
                  <a:schemeClr val="tx2"/>
                </a:solidFill>
              </a:rPr>
              <a:t> :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i="1" dirty="0">
                <a:solidFill>
                  <a:schemeClr val="tx2"/>
                </a:solidFill>
              </a:rPr>
              <a:t>precision_cat</a:t>
            </a:r>
            <a:endParaRPr lang="en-US" sz="2000" dirty="0">
              <a:solidFill>
                <a:schemeClr val="tx2"/>
              </a:solidFill>
            </a:endParaRPr>
          </a:p>
          <a:p>
            <a:pPr algn="l" defTabSz="914400">
              <a:lnSpc>
                <a:spcPct val="90000"/>
              </a:lnSpc>
            </a:pPr>
            <a:r>
              <a:rPr lang="en-US" sz="2000" dirty="0">
                <a:solidFill>
                  <a:schemeClr val="tx2"/>
                </a:solidFill>
              </a:rPr>
              <a:t>• </a:t>
            </a:r>
            <a:r>
              <a:rPr lang="en-US" sz="2000" b="1" dirty="0">
                <a:solidFill>
                  <a:schemeClr val="tx2"/>
                </a:solidFill>
              </a:rPr>
              <a:t>well_placed</a:t>
            </a:r>
            <a:r>
              <a:rPr lang="en-US" sz="2000" dirty="0">
                <a:solidFill>
                  <a:schemeClr val="tx2"/>
                </a:solidFill>
              </a:rPr>
              <a:t> → </a:t>
            </a:r>
            <a:r>
              <a:rPr lang="en-US" sz="2000" dirty="0" err="1">
                <a:solidFill>
                  <a:schemeClr val="tx2"/>
                </a:solidFill>
              </a:rPr>
              <a:t>coordonnées</a:t>
            </a:r>
            <a:r>
              <a:rPr lang="en-US" sz="2000" dirty="0">
                <a:solidFill>
                  <a:schemeClr val="tx2"/>
                </a:solidFill>
              </a:rPr>
              <a:t> précises et </a:t>
            </a:r>
            <a:r>
              <a:rPr lang="en-US" sz="2000" dirty="0" err="1">
                <a:solidFill>
                  <a:schemeClr val="tx2"/>
                </a:solidFill>
              </a:rPr>
              <a:t>fiables</a:t>
            </a:r>
            <a:endParaRPr lang="en-US" sz="2000" dirty="0">
              <a:solidFill>
                <a:schemeClr val="tx2"/>
              </a:solidFill>
            </a:endParaRPr>
          </a:p>
          <a:p>
            <a:pPr algn="l" defTabSz="914400">
              <a:lnSpc>
                <a:spcPct val="90000"/>
              </a:lnSpc>
            </a:pPr>
            <a:br>
              <a:rPr lang="en-US" sz="2000" dirty="0">
                <a:solidFill>
                  <a:schemeClr val="tx2"/>
                </a:solidFill>
              </a:rPr>
            </a:br>
            <a:r>
              <a:rPr lang="en-US" sz="2000" dirty="0">
                <a:solidFill>
                  <a:schemeClr val="tx2"/>
                </a:solidFill>
              </a:rPr>
              <a:t>• </a:t>
            </a:r>
            <a:r>
              <a:rPr lang="en-US" sz="2000" b="1" dirty="0">
                <a:solidFill>
                  <a:schemeClr val="tx2"/>
                </a:solidFill>
              </a:rPr>
              <a:t>provincial_dummy</a:t>
            </a:r>
            <a:r>
              <a:rPr lang="en-US" sz="2000" dirty="0">
                <a:solidFill>
                  <a:schemeClr val="tx2"/>
                </a:solidFill>
              </a:rPr>
              <a:t> → </a:t>
            </a:r>
            <a:r>
              <a:rPr lang="en-US" sz="2000" dirty="0" err="1">
                <a:solidFill>
                  <a:schemeClr val="tx2"/>
                </a:solidFill>
              </a:rPr>
              <a:t>coordonnées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approximatives</a:t>
            </a:r>
            <a:endParaRPr lang="en-US" sz="2000" dirty="0">
              <a:solidFill>
                <a:schemeClr val="tx2"/>
              </a:solidFill>
            </a:endParaRPr>
          </a:p>
          <a:p>
            <a:pPr algn="l" defTabSz="914400">
              <a:lnSpc>
                <a:spcPct val="90000"/>
              </a:lnSpc>
            </a:pPr>
            <a:br>
              <a:rPr lang="en-US" sz="2000" dirty="0">
                <a:solidFill>
                  <a:schemeClr val="tx2"/>
                </a:solidFill>
              </a:rPr>
            </a:br>
            <a:r>
              <a:rPr lang="en-US" sz="2000" dirty="0">
                <a:solidFill>
                  <a:schemeClr val="tx2"/>
                </a:solidFill>
              </a:rPr>
              <a:t>• </a:t>
            </a:r>
            <a:r>
              <a:rPr lang="en-US" sz="2000" b="1" dirty="0">
                <a:solidFill>
                  <a:schemeClr val="tx2"/>
                </a:solidFill>
              </a:rPr>
              <a:t>other/unknown</a:t>
            </a:r>
            <a:r>
              <a:rPr lang="en-US" sz="2000" dirty="0">
                <a:solidFill>
                  <a:schemeClr val="tx2"/>
                </a:solidFill>
              </a:rPr>
              <a:t> → </a:t>
            </a:r>
            <a:r>
              <a:rPr lang="en-US" sz="2000" dirty="0" err="1">
                <a:solidFill>
                  <a:schemeClr val="tx2"/>
                </a:solidFill>
              </a:rPr>
              <a:t>cas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incertains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ou</a:t>
            </a:r>
            <a:r>
              <a:rPr lang="en-US" sz="2000" dirty="0">
                <a:solidFill>
                  <a:schemeClr val="tx2"/>
                </a:solidFill>
              </a:rPr>
              <a:t> non </a:t>
            </a:r>
            <a:r>
              <a:rPr lang="en-US" sz="2000" dirty="0" err="1">
                <a:solidFill>
                  <a:schemeClr val="tx2"/>
                </a:solidFill>
              </a:rPr>
              <a:t>définis</a:t>
            </a:r>
            <a:endParaRPr lang="en-US" sz="2000" dirty="0">
              <a:solidFill>
                <a:schemeClr val="tx2"/>
              </a:solidFill>
            </a:endParaRPr>
          </a:p>
          <a:p>
            <a:pPr algn="l" defTabSz="914400">
              <a:lnSpc>
                <a:spcPct val="90000"/>
              </a:lnSpc>
            </a:pPr>
            <a:endParaRPr lang="en-US" sz="2000" dirty="0">
              <a:solidFill>
                <a:schemeClr val="tx2"/>
              </a:solidFill>
            </a:endParaRPr>
          </a:p>
          <a:p>
            <a:pPr algn="l" defTabSz="914400">
              <a:lnSpc>
                <a:spcPct val="90000"/>
              </a:lnSpc>
            </a:pPr>
            <a:r>
              <a:rPr lang="en-US" sz="2000" b="1" dirty="0">
                <a:solidFill>
                  <a:schemeClr val="tx2"/>
                </a:solidFill>
              </a:rPr>
              <a:t>Motivation</a:t>
            </a:r>
            <a:br>
              <a:rPr lang="en-US" sz="2000" dirty="0">
                <a:solidFill>
                  <a:schemeClr val="tx2"/>
                </a:solidFill>
              </a:rPr>
            </a:br>
            <a:r>
              <a:rPr lang="en-US" sz="2000" dirty="0">
                <a:solidFill>
                  <a:schemeClr val="tx2"/>
                </a:solidFill>
              </a:rPr>
              <a:t>Cette distinction est </a:t>
            </a:r>
            <a:r>
              <a:rPr lang="en-US" sz="2000" dirty="0" err="1">
                <a:solidFill>
                  <a:schemeClr val="tx2"/>
                </a:solidFill>
              </a:rPr>
              <a:t>essentielle</a:t>
            </a:r>
            <a:r>
              <a:rPr lang="en-US" sz="2000" dirty="0">
                <a:solidFill>
                  <a:schemeClr val="tx2"/>
                </a:solidFill>
              </a:rPr>
              <a:t> pour </a:t>
            </a:r>
            <a:r>
              <a:rPr lang="en-US" sz="2000" dirty="0" err="1">
                <a:solidFill>
                  <a:schemeClr val="tx2"/>
                </a:solidFill>
              </a:rPr>
              <a:t>évaluer</a:t>
            </a:r>
            <a:r>
              <a:rPr lang="en-US" sz="2000" dirty="0">
                <a:solidFill>
                  <a:schemeClr val="tx2"/>
                </a:solidFill>
              </a:rPr>
              <a:t> la </a:t>
            </a:r>
            <a:r>
              <a:rPr lang="en-US" sz="2000" b="1" dirty="0" err="1">
                <a:solidFill>
                  <a:schemeClr val="tx2"/>
                </a:solidFill>
              </a:rPr>
              <a:t>fiabilité</a:t>
            </a:r>
            <a:r>
              <a:rPr lang="en-US" sz="2000" dirty="0">
                <a:solidFill>
                  <a:schemeClr val="tx2"/>
                </a:solidFill>
              </a:rPr>
              <a:t>, </a:t>
            </a:r>
            <a:r>
              <a:rPr lang="en-US" sz="2000" dirty="0" err="1">
                <a:solidFill>
                  <a:schemeClr val="tx2"/>
                </a:solidFill>
              </a:rPr>
              <a:t>l’</a:t>
            </a:r>
            <a:r>
              <a:rPr lang="en-US" sz="2000" b="1" dirty="0" err="1">
                <a:solidFill>
                  <a:schemeClr val="tx2"/>
                </a:solidFill>
              </a:rPr>
              <a:t>incertitude</a:t>
            </a:r>
            <a:r>
              <a:rPr lang="en-US" sz="2000" dirty="0">
                <a:solidFill>
                  <a:schemeClr val="tx2"/>
                </a:solidFill>
              </a:rPr>
              <a:t> et la </a:t>
            </a:r>
            <a:r>
              <a:rPr lang="en-US" sz="2000" b="1" dirty="0" err="1">
                <a:solidFill>
                  <a:schemeClr val="tx2"/>
                </a:solidFill>
              </a:rPr>
              <a:t>qualité</a:t>
            </a:r>
            <a:r>
              <a:rPr lang="en-US" sz="2000" dirty="0">
                <a:solidFill>
                  <a:schemeClr val="tx2"/>
                </a:solidFill>
              </a:rPr>
              <a:t> des données </a:t>
            </a:r>
            <a:r>
              <a:rPr lang="en-US" sz="2000" dirty="0" err="1">
                <a:solidFill>
                  <a:schemeClr val="tx2"/>
                </a:solidFill>
              </a:rPr>
              <a:t>géographiques</a:t>
            </a:r>
            <a:r>
              <a:rPr lang="en-US" sz="2000" dirty="0">
                <a:solidFill>
                  <a:schemeClr val="tx2"/>
                </a:solidFill>
              </a:rPr>
              <a:t> issues de </a:t>
            </a:r>
            <a:r>
              <a:rPr lang="en-US" sz="2000" dirty="0" err="1">
                <a:solidFill>
                  <a:schemeClr val="tx2"/>
                </a:solidFill>
              </a:rPr>
              <a:t>l’index</a:t>
            </a:r>
            <a:r>
              <a:rPr lang="en-US" sz="2000" dirty="0">
                <a:solidFill>
                  <a:schemeClr val="tx2"/>
                </a:solidFill>
              </a:rPr>
              <a:t>.</a:t>
            </a:r>
          </a:p>
          <a:p>
            <a:pPr algn="l" defTabSz="914400">
              <a:lnSpc>
                <a:spcPct val="90000"/>
              </a:lnSpc>
            </a:pPr>
            <a:endParaRPr lang="en-US" sz="16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Slide Background Fill">
            <a:extLst>
              <a:ext uri="{FF2B5EF4-FFF2-40B4-BE49-F238E27FC236}">
                <a16:creationId xmlns:a16="http://schemas.microsoft.com/office/drawing/2014/main" id="{907E470A-25F4-47D0-8FEC-EE9FD606B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6220E63-99E1-482A-A0A6-B47EB4BF8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36" y="0"/>
            <a:ext cx="9141711" cy="6858000"/>
            <a:chOff x="-2848" y="0"/>
            <a:chExt cx="12188949" cy="6858000"/>
          </a:xfrm>
        </p:grpSpPr>
        <p:sp>
          <p:nvSpPr>
            <p:cNvPr id="32" name="Color Cover">
              <a:extLst>
                <a:ext uri="{FF2B5EF4-FFF2-40B4-BE49-F238E27FC236}">
                  <a16:creationId xmlns:a16="http://schemas.microsoft.com/office/drawing/2014/main" id="{F8610896-EA5E-4BE8-8398-C1AFC0490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5">
                <a:alpha val="4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Color Cover">
              <a:extLst>
                <a:ext uri="{FF2B5EF4-FFF2-40B4-BE49-F238E27FC236}">
                  <a16:creationId xmlns:a16="http://schemas.microsoft.com/office/drawing/2014/main" id="{F44E9794-9C4B-427F-BB50-89D893347D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6">
                <a:alpha val="1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618EE54-271A-4FE8-B6B3-D0FCF55A7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8459" y="598259"/>
            <a:ext cx="8167081" cy="5680742"/>
            <a:chOff x="651279" y="598259"/>
            <a:chExt cx="10889442" cy="5680742"/>
          </a:xfrm>
        </p:grpSpPr>
        <p:sp>
          <p:nvSpPr>
            <p:cNvPr id="36" name="Color">
              <a:extLst>
                <a:ext uri="{FF2B5EF4-FFF2-40B4-BE49-F238E27FC236}">
                  <a16:creationId xmlns:a16="http://schemas.microsoft.com/office/drawing/2014/main" id="{ECA6F781-4382-4525-9DA8-9D66605F87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Color">
              <a:extLst>
                <a:ext uri="{FF2B5EF4-FFF2-40B4-BE49-F238E27FC236}">
                  <a16:creationId xmlns:a16="http://schemas.microsoft.com/office/drawing/2014/main" id="{209C186B-2883-498E-A176-6B60F8B51B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1238" y="891712"/>
            <a:ext cx="3982212" cy="51607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Fonds </a:t>
            </a:r>
            <a:r>
              <a:rPr lang="en-US" sz="32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cartographiques</a:t>
            </a:r>
            <a:r>
              <a: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et </a:t>
            </a:r>
            <a:r>
              <a:rPr lang="en-US" sz="32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limites</a:t>
            </a:r>
            <a:r>
              <a: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techniques: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CF6A0F8-FF19-14CD-C8D2-ED1F5F66FB1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809226" y="598259"/>
            <a:ext cx="3438662" cy="545424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R="0" lvl="0" algn="l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fr-FR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Fond </a:t>
            </a:r>
            <a:r>
              <a:rPr kumimoji="0" lang="en-US" altLang="fr-FR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cartographique</a:t>
            </a:r>
            <a:r>
              <a:rPr kumimoji="0" lang="en-US" altLang="fr-FR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:</a:t>
            </a:r>
            <a:endParaRPr lang="en-US" altLang="fr-FR" sz="2000" dirty="0">
              <a:solidFill>
                <a:schemeClr val="bg1"/>
              </a:solidFill>
            </a:endParaRPr>
          </a:p>
          <a:p>
            <a:pPr marR="0" lvl="0" algn="l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Natural Earth (</a:t>
            </a:r>
            <a:r>
              <a:rPr kumimoji="0" lang="en-US" altLang="fr-FR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échelle</a:t>
            </a:r>
            <a: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110m)</a:t>
            </a:r>
            <a:b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</a:br>
            <a:r>
              <a:rPr kumimoji="0" lang="en-US" altLang="fr-FR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Système de </a:t>
            </a:r>
            <a:r>
              <a:rPr kumimoji="0" lang="en-US" altLang="fr-FR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référence</a:t>
            </a:r>
            <a:r>
              <a:rPr kumimoji="0" lang="en-US" altLang="fr-FR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:</a:t>
            </a:r>
            <a: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WGS84 (EPSG:4326)</a:t>
            </a:r>
            <a:b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</a:br>
            <a:r>
              <a:rPr kumimoji="0" lang="en-US" altLang="fr-FR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Découpage</a:t>
            </a:r>
            <a:r>
              <a:rPr kumimoji="0" lang="en-US" altLang="fr-FR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altLang="fr-FR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géographique</a:t>
            </a:r>
            <a:r>
              <a:rPr kumimoji="0" lang="en-US" altLang="fr-FR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:</a:t>
            </a:r>
            <a: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altLang="fr-FR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Amériques</a:t>
            </a:r>
            <a: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(</a:t>
            </a:r>
            <a:r>
              <a:rPr kumimoji="0" lang="en-US" altLang="fr-FR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lon</a:t>
            </a:r>
            <a: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−170 à −20, </a:t>
            </a:r>
            <a:r>
              <a:rPr kumimoji="0" lang="en-US" altLang="fr-FR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lat</a:t>
            </a:r>
            <a: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−60 à 75)</a:t>
            </a:r>
          </a:p>
          <a:p>
            <a:pPr marR="0" lvl="0" algn="l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fr-FR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Limites</a:t>
            </a:r>
            <a:r>
              <a:rPr kumimoji="0" lang="en-US" altLang="fr-FR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altLang="fr-FR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reconnues</a:t>
            </a:r>
            <a:r>
              <a:rPr kumimoji="0" lang="en-US" altLang="fr-FR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:</a:t>
            </a:r>
            <a:b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</a:br>
            <a: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• </a:t>
            </a:r>
            <a:r>
              <a:rPr kumimoji="0" lang="en-US" altLang="fr-FR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Résolution</a:t>
            </a:r>
            <a: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du fond </a:t>
            </a:r>
            <a:r>
              <a:rPr kumimoji="0" lang="en-US" altLang="fr-FR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adaptée</a:t>
            </a:r>
            <a: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aux </a:t>
            </a:r>
            <a:r>
              <a:rPr kumimoji="0" lang="en-US" altLang="fr-FR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grandes</a:t>
            </a:r>
            <a: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altLang="fr-FR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échelles</a:t>
            </a:r>
            <a: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, </a:t>
            </a:r>
            <a:r>
              <a:rPr kumimoji="0" lang="en-US" altLang="fr-FR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mais</a:t>
            </a:r>
            <a: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pas aux analyses fines.</a:t>
            </a:r>
            <a:b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</a:br>
            <a: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• Données TopUrbi </a:t>
            </a:r>
            <a:r>
              <a:rPr kumimoji="0" lang="en-US" altLang="fr-FR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hétérogènes</a:t>
            </a:r>
            <a: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en </a:t>
            </a:r>
            <a:r>
              <a:rPr kumimoji="0" lang="en-US" altLang="fr-FR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termes</a:t>
            </a:r>
            <a: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de </a:t>
            </a:r>
            <a:r>
              <a:rPr kumimoji="0" lang="en-US" altLang="fr-FR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précision</a:t>
            </a:r>
            <a: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.</a:t>
            </a:r>
            <a:b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</a:br>
            <a: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• Absence de données </a:t>
            </a:r>
            <a:r>
              <a:rPr kumimoji="0" lang="en-US" altLang="fr-FR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historiques</a:t>
            </a:r>
            <a: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altLang="fr-FR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complémentaires</a:t>
            </a:r>
            <a: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(population, réseaux de circulation).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olor Cover">
            <a:extLst>
              <a:ext uri="{FF2B5EF4-FFF2-40B4-BE49-F238E27FC236}">
                <a16:creationId xmlns:a16="http://schemas.microsoft.com/office/drawing/2014/main" id="{6BE11944-ED05-4FE9-9927-06C110BB3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2812508-238C-4BCD-BDD3-25C99C5CA2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7167"/>
            <a:ext cx="9141714" cy="3490956"/>
            <a:chOff x="651279" y="598259"/>
            <a:chExt cx="10889442" cy="5680742"/>
          </a:xfrm>
        </p:grpSpPr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EA98B5EE-6906-45B1-8691-D06F06B6C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3CB4D77E-DA74-4797-88E4-C7D817D315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2281" y="1014575"/>
            <a:ext cx="7294297" cy="1778750"/>
          </a:xfrm>
        </p:spPr>
        <p:txBody>
          <a:bodyPr anchor="ctr">
            <a:normAutofit/>
          </a:bodyPr>
          <a:lstStyle/>
          <a:p>
            <a:pPr algn="l"/>
            <a:r>
              <a:rPr lang="fr-FR" sz="3200" b="1" dirty="0">
                <a:solidFill>
                  <a:schemeClr val="bg1"/>
                </a:solidFill>
              </a:rPr>
              <a:t>Techniques cartographiques utilisées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4ED2696-EE23-517F-C2F2-8329B8C987D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92281" y="3512020"/>
            <a:ext cx="8166129" cy="321928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• Cartes de dispersion (</a:t>
            </a:r>
            <a:r>
              <a:rPr kumimoji="0" lang="fr-FR" altLang="fr-FR" sz="2000" b="0" i="1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scatterplots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) pour la distribution des points</a:t>
            </a:r>
            <a:b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• Cartes catégorielles (codes couleur distincts)</a:t>
            </a:r>
            <a:b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• Cartes de densité (</a:t>
            </a:r>
            <a:r>
              <a:rPr kumimoji="0" lang="fr-FR" altLang="fr-FR" sz="2000" b="0" i="1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hexbin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) pour analyser les concentrations spatiales</a:t>
            </a:r>
            <a:b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• Découpage régional pour des zooms locaux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Avantages :</a:t>
            </a:r>
            <a:b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• Forte lisibilité</a:t>
            </a:r>
            <a:b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• Comparabilité entre catégories</a:t>
            </a:r>
            <a:b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• Possibilité de travailler à différentes échelles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Limites :</a:t>
            </a:r>
            <a:b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• Absence de projections historiques spécifiques</a:t>
            </a:r>
            <a:b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• Densités non normalisées, à interpréter avec prudence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olor Cover">
            <a:extLst>
              <a:ext uri="{FF2B5EF4-FFF2-40B4-BE49-F238E27FC236}">
                <a16:creationId xmlns:a16="http://schemas.microsoft.com/office/drawing/2014/main" id="{6BE11944-ED05-4FE9-9927-06C110BB3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2812508-238C-4BCD-BDD3-25C99C5CA2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7167"/>
            <a:ext cx="9141714" cy="3490956"/>
            <a:chOff x="651279" y="598259"/>
            <a:chExt cx="10889442" cy="5680742"/>
          </a:xfrm>
        </p:grpSpPr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EA98B5EE-6906-45B1-8691-D06F06B6C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3CB4D77E-DA74-4797-88E4-C7D817D315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2281" y="1014574"/>
            <a:ext cx="7294297" cy="2226769"/>
          </a:xfrm>
        </p:spPr>
        <p:txBody>
          <a:bodyPr anchor="ctr">
            <a:normAutofit/>
          </a:bodyPr>
          <a:lstStyle/>
          <a:p>
            <a:pPr algn="l"/>
            <a:r>
              <a:rPr lang="fr-FR" sz="3200" b="1" dirty="0">
                <a:solidFill>
                  <a:schemeClr val="bg1"/>
                </a:solidFill>
              </a:rPr>
              <a:t>Pourquoi ces méthodologies 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5072D99-22F4-4A66-C05F-F8494DDA029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64405" y="3073706"/>
            <a:ext cx="8648241" cy="358048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• Méthodes adaptées à un corpus très vaste (17 714 lieux).</a:t>
            </a:r>
            <a:b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• Permettent une analyse critique et non naïve de la donnée historique.</a:t>
            </a:r>
            <a:b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</a:br>
            <a:b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• Méthodes simples mais robustes, cohérentes avec :</a:t>
            </a:r>
            <a:b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– l’exploration des données</a:t>
            </a:r>
            <a:b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– le traitement explicite de l’incertitude</a:t>
            </a:r>
            <a:b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– la lecture spatiale à grande échelle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351564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0055" y="473725"/>
            <a:ext cx="3242645" cy="2742173"/>
          </a:xfrm>
        </p:spPr>
        <p:txBody>
          <a:bodyPr>
            <a:normAutofit/>
          </a:bodyPr>
          <a:lstStyle/>
          <a:p>
            <a:r>
              <a:rPr lang="fr-FR" sz="3200" b="1" dirty="0"/>
              <a:t>Résultat 1: </a:t>
            </a:r>
            <a:br>
              <a:rPr lang="fr-FR" sz="3200" b="1" dirty="0"/>
            </a:br>
            <a:r>
              <a:rPr lang="fr-FR" sz="3200" b="1" dirty="0"/>
              <a:t>Carte panoramique générale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8C1A22-C238-9AB4-1BEE-0A4B07E53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1813" y="1460584"/>
            <a:ext cx="4281487" cy="3906857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5B442660-7E6C-1D5D-033A-A5B669E6908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40700" y="3244954"/>
            <a:ext cx="347016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Observations principales :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Forte concentration des lieux dans :</a:t>
            </a:r>
            <a:b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la Mésoamérique</a:t>
            </a:r>
            <a:b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la région andine</a:t>
            </a:r>
            <a:b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le Cône Sud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Zones très peu représentées :</a:t>
            </a:r>
            <a:b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nord du Canada</a:t>
            </a:r>
            <a:b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Amazonie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Mise en évidence d’un </a:t>
            </a: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biais </a:t>
            </a:r>
            <a:r>
              <a:rPr kumimoji="0" lang="fr-FR" altLang="fr-F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hispanocentrique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du corpus.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351564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7713" y="311424"/>
            <a:ext cx="2712684" cy="279516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fr-FR" sz="3200" b="1" dirty="0"/>
              <a:t>Résultat 2: Carte des lieux précisément localisés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067810-8811-F26A-CB6F-CAFAC34A3A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8110" y="1180905"/>
            <a:ext cx="4558488" cy="4284979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BD50CA78-1462-1ED4-1B14-1F5D4EC5EDC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41523" y="3202209"/>
            <a:ext cx="363959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Résultats principaux :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Les lieux </a:t>
            </a:r>
            <a:r>
              <a:rPr kumimoji="0" lang="fr-FR" altLang="fr-FR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well_placed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 concentrent dans les principaux centres urbains coloniaux.</a:t>
            </a:r>
            <a:b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Les lieux </a:t>
            </a:r>
            <a:r>
              <a:rPr kumimoji="0" lang="fr-FR" altLang="fr-FR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provincial_dummy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apparaissent surtout dans des zones rurales ou moins documentées.</a:t>
            </a:r>
            <a:b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Des différences nettes émergent entre régions bien connues et régions périphériques.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351564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0056" y="672029"/>
            <a:ext cx="2712684" cy="1987963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fr-FR" sz="3600" b="1" dirty="0"/>
              <a:t>Résultat 3: Carte des lieux approximativement localisés</a:t>
            </a:r>
            <a:br>
              <a:rPr lang="fr-FR" sz="2400" dirty="0"/>
            </a:br>
            <a:endParaRPr lang="fr-FR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960FAF-AC6B-7A33-FB13-E6BB38883D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1495" y="1301846"/>
            <a:ext cx="4461806" cy="4060243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8F3E3165-0B1A-A3AD-DCA4-F700B168C51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40700" y="2893014"/>
            <a:ext cx="3690625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Double logique observée :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La distribution des lieux reflète la </a:t>
            </a: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densité historique réelle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 espaces décrits.</a:t>
            </a:r>
            <a:b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Le niveau de précision reflète également la </a:t>
            </a: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qualité éditoriale et documentaire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du dictionnaire.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Cette distinction montre que la carte ne représente pas seulement les lieux, mais aussi la manière dont ils ont été </a:t>
            </a: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documentés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et </a:t>
            </a: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géolocalisés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351564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2888" y="460365"/>
            <a:ext cx="2712684" cy="242605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fr-FR" sz="3200" b="1" dirty="0"/>
              <a:t>Résultat 4: Carte combinée bien localisés vs approximatifs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24CA06-4EEA-E055-8636-F4C83EE5D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0477" y="1291820"/>
            <a:ext cx="4472823" cy="4070269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0B71E577-AD77-820E-A884-B43E32DD219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52540" y="2981315"/>
            <a:ext cx="3745735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L’incertitude se concentre principalement dans les zones </a:t>
            </a: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intérieures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du continent.</a:t>
            </a:r>
            <a:b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Les régions côtières et les grandes villes présentent des </a:t>
            </a: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localisations beaucoup plus précises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Cette distribution met en évidence la relation entre degré de documentation, accessibilité historique des lieux et précision géographique.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351564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151" y="202324"/>
            <a:ext cx="3029639" cy="2319026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fr-FR" sz="3200" b="1" dirty="0"/>
              <a:t>Résultat 5: </a:t>
            </a:r>
            <a:br>
              <a:rPr lang="fr-FR" sz="3200" b="1" dirty="0"/>
            </a:br>
            <a:r>
              <a:rPr lang="fr-FR" sz="3200" b="1" dirty="0"/>
              <a:t>Carte en découpage territorial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2213E7-DD11-8A67-32C8-CD00EE623A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7941" y="993431"/>
            <a:ext cx="5728771" cy="4067427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6052B8C1-E4FF-4563-1B83-451A2F30408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18685" y="2323446"/>
            <a:ext cx="2810106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Zoom sur quatre zones principales :</a:t>
            </a:r>
            <a:b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Caraïbes</a:t>
            </a:r>
            <a:b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Amérique centrale</a:t>
            </a:r>
            <a:b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Région andine</a:t>
            </a:r>
            <a:b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Cône Sud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 que le découpage révèle :</a:t>
            </a:r>
            <a:b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Une forte variation dans la densité des lieux selon les régions.</a:t>
            </a:r>
            <a:b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La visibilité de la </a:t>
            </a: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structure administrative coloniale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dans la distribution spatiale.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351564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0056" y="341524"/>
            <a:ext cx="2712684" cy="258896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fr-FR" sz="3200" b="1" dirty="0"/>
              <a:t>Résultat 6: Carte des typologies de lieux (feature_type)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E43BAA-22B6-8403-AD7F-A927D57A0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1114" y="1082368"/>
            <a:ext cx="4722188" cy="4285387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DD6F920D-FC6E-50F1-4B21-75BB5976C47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40700" y="3256494"/>
            <a:ext cx="3540413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Des divisions claires Nord/Sud et Est/Ouest se dégagent du corpus.</a:t>
            </a:r>
            <a:b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Ces contrastes montrent une </a:t>
            </a: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couverture spatiale non homogène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 Amériques.</a:t>
            </a:r>
            <a:b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La carte permet une lecture </a:t>
            </a: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continentale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 grandes dynamiques de répartition.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351564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5819" y="325694"/>
            <a:ext cx="7330055" cy="1205652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fr-FR" sz="3200" b="1" dirty="0"/>
              <a:t>Résultat 7: Carte des lieux avec coordonnées de type provincial_dummy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55E965-7F15-CFC0-4072-AAE6CFF7A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397" y="1789114"/>
            <a:ext cx="5995968" cy="2893055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9B3674C5-560E-5704-F998-4B4980F00D7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07787" y="1531346"/>
            <a:ext cx="3130324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Principales catégories identifiées:</a:t>
            </a:r>
            <a:b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fr-FR" altLang="fr-FR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Pueblo</a:t>
            </a:r>
            <a:b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fr-FR" altLang="fr-FR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Río</a:t>
            </a:r>
            <a:b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fr-FR" altLang="fr-FR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Isla</a:t>
            </a:r>
            <a:b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fr-FR" altLang="fr-FR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Ciudad</a:t>
            </a:r>
            <a:b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fr-FR" altLang="fr-FR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Pueblo </a:t>
            </a:r>
            <a:r>
              <a:rPr kumimoji="0" lang="fr-FR" altLang="fr-FR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Cabecera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Enseignements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principaux:</a:t>
            </a:r>
            <a:b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La forte présence des </a:t>
            </a:r>
            <a:r>
              <a:rPr kumimoji="0" lang="fr-FR" altLang="fr-FR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pueblos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reflète l’</a:t>
            </a: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organisation administrative espagnole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Les types de lieux varient d’une région à l’autre,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révélant des usages et des descriptions hétérogènes dans le dictionnaire.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351564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8534" y="463060"/>
            <a:ext cx="8313774" cy="1136843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fr-FR" sz="3600" b="1" dirty="0"/>
              <a:t>Résultat 8: Carte des macro-orientations géographiques (Nord/Sud, Est/Ouest)</a:t>
            </a:r>
            <a:br>
              <a:rPr lang="fr-FR" sz="2700" dirty="0"/>
            </a:br>
            <a:endParaRPr lang="fr-FR" sz="2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80DA60-06ED-8B6B-204B-50896C7EC3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9268" y="1630418"/>
            <a:ext cx="5947121" cy="3062768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283E0411-F873-8B15-7037-2E1C8DEA087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15961" y="1599903"/>
            <a:ext cx="2783307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 carte met clairement en évidence :</a:t>
            </a: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Les zones où les coordonnées sont uniquement </a:t>
            </a:r>
            <a:r>
              <a:rPr kumimoji="0" lang="fr-FR" altLang="fr-F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indicatives</a:t>
            </a: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fr-FR" altLang="fr-FR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provincial_dummy</a:t>
            </a: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Les régions </a:t>
            </a:r>
            <a:r>
              <a:rPr kumimoji="0" lang="fr-FR" altLang="fr-F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peu documentées</a:t>
            </a: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ou difficiles à localiser historiquement.</a:t>
            </a: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Un aspect méthodologique majeur : ces points ne représentent pas une localisation réelle, mais une </a:t>
            </a:r>
            <a:r>
              <a:rPr kumimoji="0" lang="fr-FR" altLang="fr-F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approximation éditoriale</a:t>
            </a: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351564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0055" y="231354"/>
            <a:ext cx="8046151" cy="113684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fr-FR" sz="3200" b="1" dirty="0"/>
              <a:t>Résultat 9: Carte comparative de densité (well_placed vs provincial_dummy)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FD48BC-5FAF-D95D-56FE-C6BEA484B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9179" y="2071171"/>
            <a:ext cx="6023424" cy="2544896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59F51DCC-EDD9-8A44-FC6A-EDFCFF92A5B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71262" y="1331993"/>
            <a:ext cx="2457889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Carte de densité </a:t>
            </a:r>
            <a:r>
              <a:rPr kumimoji="0" lang="fr-FR" altLang="fr-F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hexbin</a:t>
            </a: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Les zones de forte densité correspondent aux espaces historiquement centraux.</a:t>
            </a:r>
            <a:b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La comparaison met en évidence la différence entre les régions “visibles” et “invisibles” dans la source.</a:t>
            </a:r>
            <a:b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Elle confirme la relation entre </a:t>
            </a: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précision de la localisation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et </a:t>
            </a: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intensité documentaire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>
            <a:extLst>
              <a:ext uri="{FF2B5EF4-FFF2-40B4-BE49-F238E27FC236}">
                <a16:creationId xmlns:a16="http://schemas.microsoft.com/office/drawing/2014/main" id="{907E470A-25F4-47D0-8FEC-EE9FD606B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6220E63-99E1-482A-A0A6-B47EB4BF8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36" y="0"/>
            <a:ext cx="9141711" cy="6858000"/>
            <a:chOff x="-2848" y="0"/>
            <a:chExt cx="12188949" cy="6858000"/>
          </a:xfrm>
        </p:grpSpPr>
        <p:sp>
          <p:nvSpPr>
            <p:cNvPr id="12" name="Color Cover">
              <a:extLst>
                <a:ext uri="{FF2B5EF4-FFF2-40B4-BE49-F238E27FC236}">
                  <a16:creationId xmlns:a16="http://schemas.microsoft.com/office/drawing/2014/main" id="{F8610896-EA5E-4BE8-8398-C1AFC0490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5">
                <a:alpha val="4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Color Cover">
              <a:extLst>
                <a:ext uri="{FF2B5EF4-FFF2-40B4-BE49-F238E27FC236}">
                  <a16:creationId xmlns:a16="http://schemas.microsoft.com/office/drawing/2014/main" id="{F44E9794-9C4B-427F-BB50-89D893347D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6">
                <a:alpha val="1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618EE54-271A-4FE8-B6B3-D0FCF55A7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8459" y="598259"/>
            <a:ext cx="8167081" cy="5680742"/>
            <a:chOff x="651279" y="598259"/>
            <a:chExt cx="10889442" cy="5680742"/>
          </a:xfrm>
        </p:grpSpPr>
        <p:sp>
          <p:nvSpPr>
            <p:cNvPr id="16" name="Color">
              <a:extLst>
                <a:ext uri="{FF2B5EF4-FFF2-40B4-BE49-F238E27FC236}">
                  <a16:creationId xmlns:a16="http://schemas.microsoft.com/office/drawing/2014/main" id="{ECA6F781-4382-4525-9DA8-9D66605F87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Color">
              <a:extLst>
                <a:ext uri="{FF2B5EF4-FFF2-40B4-BE49-F238E27FC236}">
                  <a16:creationId xmlns:a16="http://schemas.microsoft.com/office/drawing/2014/main" id="{209C186B-2883-498E-A176-6B60F8B51B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1238" y="891712"/>
            <a:ext cx="3640336" cy="51607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Conclusion:</a:t>
            </a:r>
            <a:br>
              <a: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Ce </a:t>
            </a:r>
            <a:r>
              <a:rPr lang="en-US" sz="32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que</a:t>
            </a:r>
            <a:r>
              <a: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montrent</a:t>
            </a:r>
            <a:r>
              <a: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br>
              <a: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les </a:t>
            </a:r>
            <a:r>
              <a:rPr lang="en-US" sz="32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cartes</a:t>
            </a:r>
            <a:endParaRPr lang="en-US" sz="3200" b="1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AB8DB4B-F4C6-D003-8AC6-366CF39C2AB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809226" y="891713"/>
            <a:ext cx="3438662" cy="516079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R="0" lvl="0" algn="l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• Une distribution </a:t>
            </a:r>
            <a:r>
              <a:rPr kumimoji="0" lang="en-US" altLang="fr-FR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spatiale</a:t>
            </a:r>
            <a: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altLang="fr-FR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non </a:t>
            </a:r>
            <a:r>
              <a:rPr kumimoji="0" lang="en-US" altLang="fr-FR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homogène</a:t>
            </a:r>
            <a: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, reflet des </a:t>
            </a:r>
            <a:r>
              <a:rPr kumimoji="0" lang="en-US" altLang="fr-FR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dynamiques</a:t>
            </a:r>
            <a: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altLang="fr-FR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coloniales</a:t>
            </a:r>
            <a: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.</a:t>
            </a:r>
            <a:b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</a:br>
            <a: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• Une </a:t>
            </a:r>
            <a:r>
              <a:rPr kumimoji="0" lang="en-US" altLang="fr-FR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variabilité</a:t>
            </a:r>
            <a: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altLang="fr-FR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marquée</a:t>
            </a:r>
            <a: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dans la </a:t>
            </a:r>
            <a:r>
              <a:rPr kumimoji="0" lang="en-US" altLang="fr-FR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précision</a:t>
            </a:r>
            <a: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des </a:t>
            </a:r>
            <a:r>
              <a:rPr kumimoji="0" lang="en-US" altLang="fr-FR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lieux</a:t>
            </a:r>
            <a: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, </a:t>
            </a:r>
            <a:r>
              <a:rPr kumimoji="0" lang="en-US" altLang="fr-FR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liée</a:t>
            </a:r>
            <a: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au </a:t>
            </a:r>
            <a:r>
              <a:rPr kumimoji="0" lang="en-US" altLang="fr-FR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niveau</a:t>
            </a:r>
            <a: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de documentation.</a:t>
            </a:r>
            <a:b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</a:br>
            <a: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• Les </a:t>
            </a:r>
            <a:r>
              <a:rPr kumimoji="0" lang="en-US" altLang="fr-FR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typologies de </a:t>
            </a:r>
            <a:r>
              <a:rPr kumimoji="0" lang="en-US" altLang="fr-FR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lieux</a:t>
            </a:r>
            <a: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altLang="fr-FR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contribuent</a:t>
            </a:r>
            <a: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à </a:t>
            </a:r>
            <a:r>
              <a:rPr kumimoji="0" lang="en-US" altLang="fr-FR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expliquer</a:t>
            </a:r>
            <a: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la structure interne du corpus.</a:t>
            </a:r>
            <a:b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</a:br>
            <a: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• La </a:t>
            </a:r>
            <a:r>
              <a:rPr kumimoji="0" lang="en-US" altLang="fr-FR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densité</a:t>
            </a:r>
            <a: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des </a:t>
            </a:r>
            <a:r>
              <a:rPr kumimoji="0" lang="en-US" altLang="fr-FR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lieux</a:t>
            </a:r>
            <a: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suit les </a:t>
            </a:r>
            <a:r>
              <a:rPr kumimoji="0" lang="en-US" altLang="fr-FR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grandes</a:t>
            </a:r>
            <a: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zones </a:t>
            </a:r>
            <a:r>
              <a:rPr kumimoji="0" lang="en-US" altLang="fr-FR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d’</a:t>
            </a:r>
            <a:r>
              <a:rPr kumimoji="0" lang="en-US" altLang="fr-FR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activité</a:t>
            </a:r>
            <a:r>
              <a:rPr kumimoji="0" lang="en-US" altLang="fr-FR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administrative</a:t>
            </a:r>
            <a: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et de circulation.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>
            <a:extLst>
              <a:ext uri="{FF2B5EF4-FFF2-40B4-BE49-F238E27FC236}">
                <a16:creationId xmlns:a16="http://schemas.microsoft.com/office/drawing/2014/main" id="{907E470A-25F4-47D0-8FEC-EE9FD606B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6220E63-99E1-482A-A0A6-B47EB4BF8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36" y="0"/>
            <a:ext cx="9141711" cy="6858000"/>
            <a:chOff x="-2848" y="0"/>
            <a:chExt cx="12188949" cy="6858000"/>
          </a:xfrm>
        </p:grpSpPr>
        <p:sp>
          <p:nvSpPr>
            <p:cNvPr id="12" name="Color Cover">
              <a:extLst>
                <a:ext uri="{FF2B5EF4-FFF2-40B4-BE49-F238E27FC236}">
                  <a16:creationId xmlns:a16="http://schemas.microsoft.com/office/drawing/2014/main" id="{F8610896-EA5E-4BE8-8398-C1AFC0490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5">
                <a:alpha val="4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Color Cover">
              <a:extLst>
                <a:ext uri="{FF2B5EF4-FFF2-40B4-BE49-F238E27FC236}">
                  <a16:creationId xmlns:a16="http://schemas.microsoft.com/office/drawing/2014/main" id="{F44E9794-9C4B-427F-BB50-89D893347D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6">
                <a:alpha val="1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618EE54-271A-4FE8-B6B3-D0FCF55A7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8459" y="598259"/>
            <a:ext cx="8167081" cy="5680742"/>
            <a:chOff x="651279" y="598259"/>
            <a:chExt cx="10889442" cy="5680742"/>
          </a:xfrm>
        </p:grpSpPr>
        <p:sp>
          <p:nvSpPr>
            <p:cNvPr id="16" name="Color">
              <a:extLst>
                <a:ext uri="{FF2B5EF4-FFF2-40B4-BE49-F238E27FC236}">
                  <a16:creationId xmlns:a16="http://schemas.microsoft.com/office/drawing/2014/main" id="{ECA6F781-4382-4525-9DA8-9D66605F87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Color">
              <a:extLst>
                <a:ext uri="{FF2B5EF4-FFF2-40B4-BE49-F238E27FC236}">
                  <a16:creationId xmlns:a16="http://schemas.microsoft.com/office/drawing/2014/main" id="{209C186B-2883-498E-A176-6B60F8B51B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1238" y="891712"/>
            <a:ext cx="3982212" cy="51607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Conclusion:</a:t>
            </a:r>
            <a:br>
              <a: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32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Limites</a:t>
            </a:r>
            <a:r>
              <a:rPr lang="en-US" sz="3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et perspectives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5520DE9-5E5E-B08E-5C69-8D4270BBC95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821003" y="891713"/>
            <a:ext cx="4426885" cy="516079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R="0" lvl="0" algn="l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fr-FR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Limites</a:t>
            </a:r>
            <a:r>
              <a:rPr kumimoji="0" lang="en-US" altLang="fr-FR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:</a:t>
            </a:r>
            <a:b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</a:br>
            <a: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• Absence de données </a:t>
            </a:r>
            <a:r>
              <a:rPr kumimoji="0" lang="en-US" altLang="fr-FR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historiques</a:t>
            </a:r>
            <a: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altLang="fr-FR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complémentaires</a:t>
            </a:r>
            <a: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(population, réseaux, </a:t>
            </a:r>
            <a:r>
              <a:rPr kumimoji="0" lang="en-US" altLang="fr-FR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économie</a:t>
            </a:r>
            <a: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).</a:t>
            </a:r>
            <a:b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</a:br>
            <a: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• </a:t>
            </a:r>
            <a:r>
              <a:rPr kumimoji="0" lang="en-US" altLang="fr-FR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Hétérogénéité</a:t>
            </a:r>
            <a: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de la source et </a:t>
            </a:r>
            <a:r>
              <a:rPr kumimoji="0" lang="en-US" altLang="fr-FR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précision</a:t>
            </a:r>
            <a: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très variable des </a:t>
            </a:r>
            <a:r>
              <a:rPr kumimoji="0" lang="en-US" altLang="fr-FR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localisations</a:t>
            </a:r>
            <a: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.</a:t>
            </a:r>
            <a:b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</a:br>
            <a: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• Fond </a:t>
            </a:r>
            <a:r>
              <a:rPr kumimoji="0" lang="en-US" altLang="fr-FR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cartographique</a:t>
            </a:r>
            <a: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altLang="fr-FR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moderne</a:t>
            </a:r>
            <a: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, pas </a:t>
            </a:r>
            <a:r>
              <a:rPr kumimoji="0" lang="en-US" altLang="fr-FR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totalement</a:t>
            </a:r>
            <a: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altLang="fr-FR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adapté</a:t>
            </a:r>
            <a: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à des données </a:t>
            </a:r>
            <a:r>
              <a:rPr kumimoji="0" lang="en-US" altLang="fr-FR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historiques</a:t>
            </a:r>
            <a: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.</a:t>
            </a:r>
          </a:p>
          <a:p>
            <a:pPr marR="0" lvl="0" algn="l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fr-FR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Perspectives :</a:t>
            </a:r>
            <a:b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</a:br>
            <a: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• </a:t>
            </a:r>
            <a:r>
              <a:rPr kumimoji="0" lang="en-US" altLang="fr-FR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Croisement</a:t>
            </a:r>
            <a: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avec des données </a:t>
            </a:r>
            <a:r>
              <a:rPr kumimoji="0" lang="en-US" altLang="fr-FR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démographiques</a:t>
            </a:r>
            <a: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altLang="fr-FR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ou</a:t>
            </a:r>
            <a: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altLang="fr-FR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administratives</a:t>
            </a:r>
            <a: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altLang="fr-FR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historiques</a:t>
            </a:r>
            <a: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.</a:t>
            </a:r>
            <a:b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</a:br>
            <a: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• </a:t>
            </a:r>
            <a:r>
              <a:rPr kumimoji="0" lang="en-US" altLang="fr-FR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Intégration</a:t>
            </a:r>
            <a: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de réseaux (missions, ports, routes, </a:t>
            </a:r>
            <a:r>
              <a:rPr kumimoji="0" lang="en-US" altLang="fr-FR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voies</a:t>
            </a:r>
            <a: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de communication).</a:t>
            </a:r>
            <a:b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</a:br>
            <a: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• Analyse </a:t>
            </a:r>
            <a:r>
              <a:rPr kumimoji="0" lang="en-US" altLang="fr-FR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textuelle</a:t>
            </a:r>
            <a: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plus </a:t>
            </a:r>
            <a:r>
              <a:rPr kumimoji="0" lang="en-US" altLang="fr-FR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approfondie</a:t>
            </a:r>
            <a: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de </a:t>
            </a:r>
            <a:r>
              <a:rPr kumimoji="0" lang="en-US" altLang="fr-FR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l’index</a:t>
            </a:r>
            <a: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TopUrbi et des entrées </a:t>
            </a:r>
            <a:r>
              <a:rPr kumimoji="0" lang="en-US" altLang="fr-FR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annotées</a:t>
            </a:r>
            <a:r>
              <a:rPr kumimoji="0" lang="en-US" altLang="fr-F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304</TotalTime>
  <Words>1291</Words>
  <Application>Microsoft Office PowerPoint</Application>
  <PresentationFormat>On-screen Show (4:3)</PresentationFormat>
  <Paragraphs>67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Arial</vt:lpstr>
      <vt:lpstr>Calibri</vt:lpstr>
      <vt:lpstr>Office Theme</vt:lpstr>
      <vt:lpstr>Cartographie des lieux du dictionnaire  TopUrbi (Alcedo)  Humanités Numériques Spatialisées  Master 2 HN Susanna De Luca – Janvier 2026</vt:lpstr>
      <vt:lpstr>Problématique principale: Dans quelle mesure la qualité, la précision et la distribution géographique des lieux présents dans l’index TopUrbi reflètent-elles les logiques historiques, éditoriales et documentaires du XVIIIᵉ siècle ?</vt:lpstr>
      <vt:lpstr>Enjeux scientifiques:</vt:lpstr>
      <vt:lpstr>Méthodes:  Extraction et structuration des données Source utilisée: TopUrbiIndex.xml</vt:lpstr>
      <vt:lpstr>Logique de classification:</vt:lpstr>
      <vt:lpstr>Fonds cartographiques et limites techniques:</vt:lpstr>
      <vt:lpstr>Techniques cartographiques utilisées</vt:lpstr>
      <vt:lpstr>Pourquoi ces méthodologies ?</vt:lpstr>
      <vt:lpstr>Résultat 1:  Carte panoramique générale</vt:lpstr>
      <vt:lpstr>Résultat 2: Carte des lieux précisément localisés</vt:lpstr>
      <vt:lpstr>Résultat 3: Carte des lieux approximativement localisés </vt:lpstr>
      <vt:lpstr>Résultat 4: Carte combinée bien localisés vs approximatifs</vt:lpstr>
      <vt:lpstr>Résultat 5:  Carte en découpage territorial </vt:lpstr>
      <vt:lpstr>Résultat 6: Carte des typologies de lieux (feature_type)</vt:lpstr>
      <vt:lpstr>Résultat 7: Carte des lieux avec coordonnées de type provincial_dummy</vt:lpstr>
      <vt:lpstr>Résultat 8: Carte des macro-orientations géographiques (Nord/Sud, Est/Ouest) </vt:lpstr>
      <vt:lpstr>Résultat 9: Carte comparative de densité (well_placed vs provincial_dummy)</vt:lpstr>
      <vt:lpstr>Conclusion: Ce que montrent  les cartes</vt:lpstr>
      <vt:lpstr>Conclusion: Limites et perspectives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Susanna De Luca</cp:lastModifiedBy>
  <cp:revision>9</cp:revision>
  <dcterms:created xsi:type="dcterms:W3CDTF">2013-01-27T09:14:16Z</dcterms:created>
  <dcterms:modified xsi:type="dcterms:W3CDTF">2026-01-20T11:06:34Z</dcterms:modified>
  <cp:category/>
</cp:coreProperties>
</file>